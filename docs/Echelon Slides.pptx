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Nunito Semi Bold"/>
      <p:regular r:id="rId9"/>
    </p:embeddedFont>
    <p:embeddedFont>
      <p:font typeface="Nunito Semi Bold"/>
      <p:regular r:id="rId10"/>
    </p:embeddedFont>
    <p:embeddedFont>
      <p:font typeface="Nunito Semi Bold"/>
      <p:regular r:id="rId11"/>
    </p:embeddedFont>
    <p:embeddedFont>
      <p:font typeface="Nunito Semi Bold"/>
      <p:regular r:id="rId12"/>
    </p:embeddedFont>
    <p:embeddedFont>
      <p:font typeface="PT Sans"/>
      <p:regular r:id="rId13"/>
    </p:embeddedFont>
    <p:embeddedFont>
      <p:font typeface="PT Sans"/>
      <p:regular r:id="rId14"/>
    </p:embeddedFont>
    <p:embeddedFont>
      <p:font typeface="PT Sans"/>
      <p:regular r:id="rId15"/>
    </p:embeddedFont>
    <p:embeddedFont>
      <p:font typeface="PT Sans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370" y="745569"/>
            <a:ext cx="1089660" cy="472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4324" y="2449473"/>
            <a:ext cx="8102918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AI-Powered Talent Screening for Smarter Hiring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2214324" y="3066098"/>
            <a:ext cx="10201751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Echelon transforms how teams screen candidates — replacing slow, inconsistent manual review with intelligent, explainable AI.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101215" y="3390067"/>
            <a:ext cx="5135523" cy="4353520"/>
          </a:xfrm>
          <a:prstGeom prst="roundRect">
            <a:avLst>
              <a:gd name="adj" fmla="val 8660"/>
            </a:avLst>
          </a:prstGeom>
          <a:solidFill>
            <a:srgbClr val="1A2D7A">
              <a:alpha val="7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258258" y="3506033"/>
            <a:ext cx="1162050" cy="260628"/>
          </a:xfrm>
          <a:prstGeom prst="roundRect">
            <a:avLst>
              <a:gd name="adj" fmla="val 72330"/>
            </a:avLst>
          </a:prstGeom>
          <a:solidFill>
            <a:srgbClr val="48330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2437" y="3573542"/>
            <a:ext cx="125611" cy="125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40794" y="3553063"/>
            <a:ext cx="785336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258258" y="3807857"/>
            <a:ext cx="234041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Screening at scale is broken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7075" y="4162544"/>
            <a:ext cx="235625" cy="235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68679" y="4154805"/>
            <a:ext cx="4311015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Recruiters face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hundreds of applications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per open role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7075" y="4847630"/>
            <a:ext cx="235625" cy="2356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68679" y="4839891"/>
            <a:ext cx="4311015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Manual review is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slow, biased, and inconsistent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17075" y="5532715"/>
            <a:ext cx="235625" cy="235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768679" y="5524976"/>
            <a:ext cx="4311015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Comparing candidates fairly at scale is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nearly impossible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7514392" y="3506033"/>
            <a:ext cx="1259562" cy="291108"/>
          </a:xfrm>
          <a:prstGeom prst="roundRect">
            <a:avLst>
              <a:gd name="adj" fmla="val 64757"/>
            </a:avLst>
          </a:prstGeom>
          <a:noFill/>
          <a:ln w="15240">
            <a:solidFill>
              <a:srgbClr val="F2B42D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3810" y="3588782"/>
            <a:ext cx="125611" cy="12561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812167" y="3568303"/>
            <a:ext cx="852368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7514392" y="3838337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Meet Echelon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7514392" y="4172307"/>
            <a:ext cx="490930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AI-powered screening assistant built for modern hiring teams.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14392" y="4523661"/>
            <a:ext cx="235625" cy="2356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853005" y="4530566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Smart Ranking</a:t>
            </a:r>
            <a:endParaRPr lang="en-US" sz="1450" dirty="0"/>
          </a:p>
        </p:txBody>
      </p:sp>
      <p:sp>
        <p:nvSpPr>
          <p:cNvPr id="23" name="Text 14"/>
          <p:cNvSpPr/>
          <p:nvPr/>
        </p:nvSpPr>
        <p:spPr>
          <a:xfrm>
            <a:off x="7853005" y="4864537"/>
            <a:ext cx="45706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Scores every candidate 0–100 against your job requirements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14392" y="5306020"/>
            <a:ext cx="235625" cy="23562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853005" y="5312926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Explainable AI</a:t>
            </a:r>
            <a:endParaRPr lang="en-US" sz="1450" dirty="0"/>
          </a:p>
        </p:txBody>
      </p:sp>
      <p:sp>
        <p:nvSpPr>
          <p:cNvPr id="26" name="Text 16"/>
          <p:cNvSpPr/>
          <p:nvPr/>
        </p:nvSpPr>
        <p:spPr>
          <a:xfrm>
            <a:off x="7853005" y="5646896"/>
            <a:ext cx="4570690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Surfaces strengths, gaps, and a clear recommendation for each candidate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14392" y="6296382"/>
            <a:ext cx="235625" cy="23562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853005" y="630328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Flexible Inputs</a:t>
            </a:r>
            <a:endParaRPr lang="en-US" sz="1450" dirty="0"/>
          </a:p>
        </p:txBody>
      </p:sp>
      <p:sp>
        <p:nvSpPr>
          <p:cNvPr id="29" name="Text 18"/>
          <p:cNvSpPr/>
          <p:nvPr/>
        </p:nvSpPr>
        <p:spPr>
          <a:xfrm>
            <a:off x="7853005" y="6637258"/>
            <a:ext cx="45706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CVs, spreadsheets, and profiles — no reformatting needed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14392" y="7078742"/>
            <a:ext cx="235625" cy="23562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853005" y="708564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Human in Control</a:t>
            </a:r>
            <a:endParaRPr lang="en-US" sz="1450" dirty="0"/>
          </a:p>
        </p:txBody>
      </p:sp>
      <p:sp>
        <p:nvSpPr>
          <p:cNvPr id="32" name="Text 20"/>
          <p:cNvSpPr/>
          <p:nvPr/>
        </p:nvSpPr>
        <p:spPr>
          <a:xfrm>
            <a:off x="7853005" y="7419618"/>
            <a:ext cx="45706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Recruiters make the final call — Echelon just makes it easier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762" y="329089"/>
            <a:ext cx="406098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How It Works &amp; Why It Matters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28762" y="800695"/>
            <a:ext cx="780217" cy="186452"/>
          </a:xfrm>
          <a:prstGeom prst="roundRect">
            <a:avLst>
              <a:gd name="adj" fmla="val 77032"/>
            </a:avLst>
          </a:prstGeom>
          <a:solidFill>
            <a:srgbClr val="48330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0557" y="846058"/>
            <a:ext cx="95726" cy="95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44146" y="836533"/>
            <a:ext cx="493038" cy="114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WORKFLOW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428762" y="1011079"/>
            <a:ext cx="2275880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Five steps from job post to shortlist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762" y="1276707"/>
            <a:ext cx="7772757" cy="33573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83586" y="3622401"/>
            <a:ext cx="1154090" cy="39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Upload Candidates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283586" y="4077591"/>
            <a:ext cx="1154090" cy="2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CVs, profiles, or sheets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46992" y="3622401"/>
            <a:ext cx="1154090" cy="39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10 or 20 Shortlist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46992" y="4077591"/>
            <a:ext cx="1154090" cy="2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Automatically ranked list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805562" y="1579651"/>
            <a:ext cx="1154090" cy="19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Create Job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05562" y="1837140"/>
            <a:ext cx="1154090" cy="2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 role requirements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680992" y="1579651"/>
            <a:ext cx="1154090" cy="39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Review &amp; Decide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80992" y="2034841"/>
            <a:ext cx="1154090" cy="2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See strengths, gaps, recommendation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83682" y="1579651"/>
            <a:ext cx="1154090" cy="19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83682" y="1837140"/>
            <a:ext cx="1154090" cy="2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Echelon scores each candidate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428762" y="4701302"/>
            <a:ext cx="7772757" cy="792837"/>
          </a:xfrm>
          <a:prstGeom prst="roundRect">
            <a:avLst>
              <a:gd name="adj" fmla="val 22645"/>
            </a:avLst>
          </a:prstGeom>
          <a:solidFill>
            <a:srgbClr val="02234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420" y="4860369"/>
            <a:ext cx="149543" cy="1196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17620" y="4790956"/>
            <a:ext cx="726424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Example Output — Candidate #1 — Score: 87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Strong in React, Node.js · 3+ years experience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⚠️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Limited leadership experience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→ Recommended for senior technical roles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428762" y="5561409"/>
            <a:ext cx="596622" cy="186452"/>
          </a:xfrm>
          <a:prstGeom prst="roundRect">
            <a:avLst>
              <a:gd name="adj" fmla="val 77032"/>
            </a:avLst>
          </a:prstGeom>
          <a:solidFill>
            <a:srgbClr val="48330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0557" y="5606772"/>
            <a:ext cx="95726" cy="957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44146" y="5597247"/>
            <a:ext cx="309443" cy="114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IMPACT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3428762" y="5771793"/>
            <a:ext cx="2271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Measurable results for hiring teams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428762" y="6097191"/>
            <a:ext cx="384893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80%</a:t>
            </a:r>
            <a:endParaRPr lang="en-US" sz="3100" dirty="0"/>
          </a:p>
        </p:txBody>
      </p:sp>
      <p:sp>
        <p:nvSpPr>
          <p:cNvPr id="26" name="Text 20"/>
          <p:cNvSpPr/>
          <p:nvPr/>
        </p:nvSpPr>
        <p:spPr>
          <a:xfrm>
            <a:off x="4649153" y="659665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Faster Screening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428762" y="6808470"/>
            <a:ext cx="3848933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Reduction in time spent on manual candidate review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352467" y="6097191"/>
            <a:ext cx="3849052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10 or 20</a:t>
            </a:r>
            <a:endParaRPr lang="en-US" sz="3100" dirty="0"/>
          </a:p>
        </p:txBody>
      </p:sp>
      <p:sp>
        <p:nvSpPr>
          <p:cNvPr id="29" name="Text 23"/>
          <p:cNvSpPr/>
          <p:nvPr/>
        </p:nvSpPr>
        <p:spPr>
          <a:xfrm>
            <a:off x="8572976" y="659665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Instant Shortlist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352467" y="6808470"/>
            <a:ext cx="3849052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Ranked candidates delivered with full explanations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428762" y="7019330"/>
            <a:ext cx="3856434" cy="753547"/>
          </a:xfrm>
          <a:prstGeom prst="roundRect">
            <a:avLst>
              <a:gd name="adj" fmla="val 23825"/>
            </a:avLst>
          </a:prstGeom>
          <a:solidFill>
            <a:srgbClr val="00002E"/>
          </a:solidFill>
          <a:ln w="7620">
            <a:solidFill>
              <a:srgbClr val="F2B42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556040" y="714660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Fair &amp; Transparent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556040" y="7358420"/>
            <a:ext cx="3601879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Consistent scoring criteria applied equally to every candidate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344966" y="7019330"/>
            <a:ext cx="3856553" cy="753547"/>
          </a:xfrm>
          <a:prstGeom prst="roundRect">
            <a:avLst>
              <a:gd name="adj" fmla="val 23825"/>
            </a:avLst>
          </a:prstGeom>
          <a:solidFill>
            <a:srgbClr val="00002E"/>
          </a:solidFill>
          <a:ln w="7620">
            <a:solidFill>
              <a:srgbClr val="D7425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472243" y="714660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Better Matches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472243" y="7358420"/>
            <a:ext cx="3601998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alignment between job requirements and candidate profiles improves accuracy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3608189" y="7907417"/>
            <a:ext cx="759333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"We don't replace recruiters — we empower them with intelligent, explainable AI."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428762" y="7840147"/>
            <a:ext cx="15240" cy="278130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2026-04-23T12:17:11Z</dcterms:created>
  <dcterms:modified xsi:type="dcterms:W3CDTF">2026-04-23T12:17:11Z</dcterms:modified>
</cp:coreProperties>
</file>